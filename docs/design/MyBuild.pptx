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Inter Bold" panose="020B0604020202020204" charset="0"/>
      <p:regular r:id="rId10"/>
    </p:embeddedFont>
    <p:embeddedFont>
      <p:font typeface="Montserrat" panose="00000500000000000000" pitchFamily="2" charset="-52"/>
      <p:regular r:id="rId11"/>
    </p:embeddedFont>
    <p:embeddedFont>
      <p:font typeface="Poppins" panose="00000500000000000000" pitchFamily="2" charset="0"/>
      <p:regular r:id="rId12"/>
    </p:embeddedFont>
    <p:embeddedFont>
      <p:font typeface="Poppins Bold" panose="020B0604020202020204" charset="0"/>
      <p:regular r:id="rId13"/>
    </p:embeddedFont>
    <p:embeddedFont>
      <p:font typeface="Poppins Semi-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14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FB72A33-1ED6-B043-1DE2-40DB4DB6B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8585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381945" y="2636944"/>
            <a:ext cx="5141069" cy="5141069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89A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229981" y="5191946"/>
            <a:ext cx="2586067" cy="258606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CAE4">
                <a:alpha val="49804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569032" y="3098699"/>
            <a:ext cx="10817167" cy="2107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81"/>
              </a:lnSpc>
            </a:pPr>
            <a:r>
              <a:rPr lang="en-US" sz="12272" b="1">
                <a:solidFill>
                  <a:srgbClr val="E9EBED"/>
                </a:solidFill>
                <a:latin typeface="Inter Bold"/>
                <a:ea typeface="Inter Bold"/>
                <a:cs typeface="Inter Bold"/>
                <a:sym typeface="Inter Bold"/>
              </a:rPr>
              <a:t>MyBuild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16273" y="5092685"/>
            <a:ext cx="11577846" cy="1943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58"/>
              </a:lnSpc>
            </a:pPr>
            <a:r>
              <a:rPr lang="en-US" sz="5612">
                <a:solidFill>
                  <a:srgbClr val="E9EBED"/>
                </a:solidFill>
                <a:latin typeface="Montserrat"/>
                <a:ea typeface="Montserrat"/>
                <a:cs typeface="Montserrat"/>
                <a:sym typeface="Montserrat"/>
              </a:rPr>
              <a:t>Предложение по разработке и внедрению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1106" y="-2277588"/>
            <a:ext cx="5982858" cy="9747621"/>
            <a:chOff x="0" y="0"/>
            <a:chExt cx="1575732" cy="25672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75732" cy="2567275"/>
            </a:xfrm>
            <a:custGeom>
              <a:avLst/>
              <a:gdLst/>
              <a:ahLst/>
              <a:cxnLst/>
              <a:rect l="l" t="t" r="r" b="b"/>
              <a:pathLst>
                <a:path w="1575732" h="2567275">
                  <a:moveTo>
                    <a:pt x="65995" y="0"/>
                  </a:moveTo>
                  <a:lnTo>
                    <a:pt x="1509737" y="0"/>
                  </a:lnTo>
                  <a:cubicBezTo>
                    <a:pt x="1527240" y="0"/>
                    <a:pt x="1544026" y="6953"/>
                    <a:pt x="1556403" y="19329"/>
                  </a:cubicBezTo>
                  <a:cubicBezTo>
                    <a:pt x="1568779" y="31706"/>
                    <a:pt x="1575732" y="48492"/>
                    <a:pt x="1575732" y="65995"/>
                  </a:cubicBezTo>
                  <a:lnTo>
                    <a:pt x="1575732" y="2501280"/>
                  </a:lnTo>
                  <a:cubicBezTo>
                    <a:pt x="1575732" y="2537728"/>
                    <a:pt x="1546185" y="2567275"/>
                    <a:pt x="1509737" y="2567275"/>
                  </a:cubicBezTo>
                  <a:lnTo>
                    <a:pt x="65995" y="2567275"/>
                  </a:lnTo>
                  <a:cubicBezTo>
                    <a:pt x="29547" y="2567275"/>
                    <a:pt x="0" y="2537728"/>
                    <a:pt x="0" y="2501280"/>
                  </a:cubicBezTo>
                  <a:lnTo>
                    <a:pt x="0" y="65995"/>
                  </a:lnTo>
                  <a:cubicBezTo>
                    <a:pt x="0" y="29547"/>
                    <a:pt x="29547" y="0"/>
                    <a:pt x="6599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83F52">
                    <a:alpha val="100000"/>
                  </a:srgbClr>
                </a:gs>
                <a:gs pos="20000">
                  <a:srgbClr val="283E51">
                    <a:alpha val="100000"/>
                  </a:srgbClr>
                </a:gs>
                <a:gs pos="40000">
                  <a:srgbClr val="263744">
                    <a:alpha val="100000"/>
                  </a:srgbClr>
                </a:gs>
                <a:gs pos="60000">
                  <a:srgbClr val="263744">
                    <a:alpha val="100000"/>
                  </a:srgbClr>
                </a:gs>
                <a:gs pos="80000">
                  <a:srgbClr val="283E51">
                    <a:alpha val="100000"/>
                  </a:srgbClr>
                </a:gs>
                <a:gs pos="100000">
                  <a:srgbClr val="283E5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75732" cy="2605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13211" y="7001560"/>
            <a:ext cx="1546390" cy="1479763"/>
            <a:chOff x="0" y="0"/>
            <a:chExt cx="407280" cy="3897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7280" cy="389732"/>
            </a:xfrm>
            <a:custGeom>
              <a:avLst/>
              <a:gdLst/>
              <a:ahLst/>
              <a:cxnLst/>
              <a:rect l="l" t="t" r="r" b="b"/>
              <a:pathLst>
                <a:path w="407280" h="389732">
                  <a:moveTo>
                    <a:pt x="135174" y="0"/>
                  </a:moveTo>
                  <a:lnTo>
                    <a:pt x="272106" y="0"/>
                  </a:lnTo>
                  <a:cubicBezTo>
                    <a:pt x="346760" y="0"/>
                    <a:pt x="407280" y="60519"/>
                    <a:pt x="407280" y="135174"/>
                  </a:cubicBezTo>
                  <a:lnTo>
                    <a:pt x="407280" y="254558"/>
                  </a:lnTo>
                  <a:cubicBezTo>
                    <a:pt x="407280" y="290408"/>
                    <a:pt x="393038" y="324790"/>
                    <a:pt x="367688" y="350140"/>
                  </a:cubicBezTo>
                  <a:cubicBezTo>
                    <a:pt x="342338" y="375490"/>
                    <a:pt x="307956" y="389732"/>
                    <a:pt x="272106" y="389732"/>
                  </a:cubicBezTo>
                  <a:lnTo>
                    <a:pt x="135174" y="389732"/>
                  </a:lnTo>
                  <a:cubicBezTo>
                    <a:pt x="99324" y="389732"/>
                    <a:pt x="64942" y="375490"/>
                    <a:pt x="39592" y="350140"/>
                  </a:cubicBezTo>
                  <a:cubicBezTo>
                    <a:pt x="14242" y="324790"/>
                    <a:pt x="0" y="290408"/>
                    <a:pt x="0" y="254558"/>
                  </a:cubicBezTo>
                  <a:lnTo>
                    <a:pt x="0" y="135174"/>
                  </a:lnTo>
                  <a:cubicBezTo>
                    <a:pt x="0" y="99324"/>
                    <a:pt x="14242" y="64942"/>
                    <a:pt x="39592" y="39592"/>
                  </a:cubicBezTo>
                  <a:cubicBezTo>
                    <a:pt x="64942" y="14242"/>
                    <a:pt x="99324" y="0"/>
                    <a:pt x="135174" y="0"/>
                  </a:cubicBezTo>
                  <a:close/>
                </a:path>
              </a:pathLst>
            </a:custGeom>
            <a:solidFill>
              <a:srgbClr val="3C586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07280" cy="427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17899" y="2030362"/>
            <a:ext cx="6226275" cy="622627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9737" y="0"/>
                  </a:moveTo>
                  <a:lnTo>
                    <a:pt x="763063" y="0"/>
                  </a:lnTo>
                  <a:cubicBezTo>
                    <a:pt x="776254" y="0"/>
                    <a:pt x="788905" y="5240"/>
                    <a:pt x="798232" y="14568"/>
                  </a:cubicBezTo>
                  <a:cubicBezTo>
                    <a:pt x="807560" y="23895"/>
                    <a:pt x="812800" y="36546"/>
                    <a:pt x="812800" y="49737"/>
                  </a:cubicBezTo>
                  <a:lnTo>
                    <a:pt x="812800" y="763063"/>
                  </a:lnTo>
                  <a:cubicBezTo>
                    <a:pt x="812800" y="776254"/>
                    <a:pt x="807560" y="788905"/>
                    <a:pt x="798232" y="798232"/>
                  </a:cubicBezTo>
                  <a:cubicBezTo>
                    <a:pt x="788905" y="807560"/>
                    <a:pt x="776254" y="812800"/>
                    <a:pt x="763063" y="812800"/>
                  </a:cubicBezTo>
                  <a:lnTo>
                    <a:pt x="49737" y="812800"/>
                  </a:lnTo>
                  <a:cubicBezTo>
                    <a:pt x="36546" y="812800"/>
                    <a:pt x="23895" y="807560"/>
                    <a:pt x="14568" y="798232"/>
                  </a:cubicBezTo>
                  <a:cubicBezTo>
                    <a:pt x="5240" y="788905"/>
                    <a:pt x="0" y="776254"/>
                    <a:pt x="0" y="763063"/>
                  </a:cubicBezTo>
                  <a:lnTo>
                    <a:pt x="0" y="49737"/>
                  </a:lnTo>
                  <a:cubicBezTo>
                    <a:pt x="0" y="36546"/>
                    <a:pt x="5240" y="23895"/>
                    <a:pt x="14568" y="14568"/>
                  </a:cubicBezTo>
                  <a:cubicBezTo>
                    <a:pt x="23895" y="5240"/>
                    <a:pt x="36546" y="0"/>
                    <a:pt x="49737" y="0"/>
                  </a:cubicBezTo>
                  <a:close/>
                </a:path>
              </a:pathLst>
            </a:custGeom>
            <a:blipFill>
              <a:blip r:embed="rId2"/>
              <a:stretch>
                <a:fillRect l="-7773" r="-48782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8983736" y="1252488"/>
            <a:ext cx="7236003" cy="167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99"/>
              </a:lnSpc>
            </a:pPr>
            <a:r>
              <a:rPr lang="en-US" sz="6499" b="1">
                <a:solidFill>
                  <a:srgbClr val="263744"/>
                </a:solidFill>
                <a:latin typeface="Inter Bold"/>
                <a:ea typeface="Inter Bold"/>
                <a:cs typeface="Inter Bold"/>
                <a:sym typeface="Inter Bold"/>
              </a:rPr>
              <a:t>ЧТО ТАКОЕ MYBUILD?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983736" y="3207728"/>
            <a:ext cx="7236003" cy="2734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MyBuild — это единая цифровая среда, созданная для прозрачного взаимодействия заказчиков, строительных компаний и поставщиков. Сервис заменяет хаотичный поиск исполнителей на структурированную систему, где выбор подрядчика основан на честной конкуренции и понятных критериях.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83736" y="6160095"/>
            <a:ext cx="7236003" cy="234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Платформа работает по принципу «одного окна». Заказчики публикуют проекты и выбирают исполнителей, а строительные команды получают заказы и ведут работу прямо в системе. Весь процесс — от первой заявки до сдачи готового объекта — происходит внутри приложения.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7259300" y="2030362"/>
            <a:ext cx="2092393" cy="6226275"/>
            <a:chOff x="0" y="0"/>
            <a:chExt cx="551083" cy="16398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51083" cy="1639842"/>
            </a:xfrm>
            <a:custGeom>
              <a:avLst/>
              <a:gdLst/>
              <a:ahLst/>
              <a:cxnLst/>
              <a:rect l="l" t="t" r="r" b="b"/>
              <a:pathLst>
                <a:path w="551083" h="1639842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1451140"/>
                  </a:lnTo>
                  <a:cubicBezTo>
                    <a:pt x="551083" y="1555357"/>
                    <a:pt x="466598" y="1639842"/>
                    <a:pt x="362381" y="1639842"/>
                  </a:cubicBezTo>
                  <a:lnTo>
                    <a:pt x="188702" y="1639842"/>
                  </a:lnTo>
                  <a:cubicBezTo>
                    <a:pt x="84485" y="1639842"/>
                    <a:pt x="0" y="1555357"/>
                    <a:pt x="0" y="1451140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83F52">
                    <a:alpha val="100000"/>
                  </a:srgbClr>
                </a:gs>
                <a:gs pos="20000">
                  <a:srgbClr val="283E51">
                    <a:alpha val="100000"/>
                  </a:srgbClr>
                </a:gs>
                <a:gs pos="40000">
                  <a:srgbClr val="263744">
                    <a:alpha val="100000"/>
                  </a:srgbClr>
                </a:gs>
                <a:gs pos="60000">
                  <a:srgbClr val="263744">
                    <a:alpha val="100000"/>
                  </a:srgbClr>
                </a:gs>
                <a:gs pos="80000">
                  <a:srgbClr val="283E51">
                    <a:alpha val="100000"/>
                  </a:srgbClr>
                </a:gs>
                <a:gs pos="100000">
                  <a:srgbClr val="283E5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551083" cy="1677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4145" y="819862"/>
            <a:ext cx="3051719" cy="5253514"/>
            <a:chOff x="0" y="0"/>
            <a:chExt cx="803745" cy="13836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03745" cy="1383642"/>
            </a:xfrm>
            <a:custGeom>
              <a:avLst/>
              <a:gdLst/>
              <a:ahLst/>
              <a:cxnLst/>
              <a:rect l="l" t="t" r="r" b="b"/>
              <a:pathLst>
                <a:path w="803745" h="1383642">
                  <a:moveTo>
                    <a:pt x="129382" y="0"/>
                  </a:moveTo>
                  <a:lnTo>
                    <a:pt x="674363" y="0"/>
                  </a:lnTo>
                  <a:cubicBezTo>
                    <a:pt x="745819" y="0"/>
                    <a:pt x="803745" y="57926"/>
                    <a:pt x="803745" y="129382"/>
                  </a:cubicBezTo>
                  <a:lnTo>
                    <a:pt x="803745" y="1254259"/>
                  </a:lnTo>
                  <a:cubicBezTo>
                    <a:pt x="803745" y="1325715"/>
                    <a:pt x="745819" y="1383642"/>
                    <a:pt x="674363" y="1383642"/>
                  </a:cubicBezTo>
                  <a:lnTo>
                    <a:pt x="129382" y="1383642"/>
                  </a:lnTo>
                  <a:cubicBezTo>
                    <a:pt x="57926" y="1383642"/>
                    <a:pt x="0" y="1325715"/>
                    <a:pt x="0" y="1254259"/>
                  </a:cubicBezTo>
                  <a:lnTo>
                    <a:pt x="0" y="129382"/>
                  </a:lnTo>
                  <a:cubicBezTo>
                    <a:pt x="0" y="57926"/>
                    <a:pt x="57926" y="0"/>
                    <a:pt x="12938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D607D">
                    <a:alpha val="100000"/>
                  </a:srgbClr>
                </a:gs>
                <a:gs pos="20000">
                  <a:srgbClr val="3D607D">
                    <a:alpha val="100000"/>
                  </a:srgbClr>
                </a:gs>
                <a:gs pos="40000">
                  <a:srgbClr val="263744">
                    <a:alpha val="100000"/>
                  </a:srgbClr>
                </a:gs>
                <a:gs pos="60000">
                  <a:srgbClr val="263744">
                    <a:alpha val="100000"/>
                  </a:srgbClr>
                </a:gs>
                <a:gs pos="80000">
                  <a:srgbClr val="3D607D">
                    <a:alpha val="100000"/>
                  </a:srgbClr>
                </a:gs>
                <a:gs pos="100000">
                  <a:srgbClr val="3D607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03745" cy="1421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611670" y="1060702"/>
            <a:ext cx="7056899" cy="8727606"/>
            <a:chOff x="0" y="0"/>
            <a:chExt cx="1185257" cy="14658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85257" cy="1465864"/>
            </a:xfrm>
            <a:custGeom>
              <a:avLst/>
              <a:gdLst/>
              <a:ahLst/>
              <a:cxnLst/>
              <a:rect l="l" t="t" r="r" b="b"/>
              <a:pathLst>
                <a:path w="1185257" h="1465864">
                  <a:moveTo>
                    <a:pt x="43883" y="0"/>
                  </a:moveTo>
                  <a:lnTo>
                    <a:pt x="1141374" y="0"/>
                  </a:lnTo>
                  <a:cubicBezTo>
                    <a:pt x="1153012" y="0"/>
                    <a:pt x="1164174" y="4623"/>
                    <a:pt x="1172404" y="12853"/>
                  </a:cubicBezTo>
                  <a:cubicBezTo>
                    <a:pt x="1180633" y="21083"/>
                    <a:pt x="1185257" y="32244"/>
                    <a:pt x="1185257" y="43883"/>
                  </a:cubicBezTo>
                  <a:lnTo>
                    <a:pt x="1185257" y="1421981"/>
                  </a:lnTo>
                  <a:cubicBezTo>
                    <a:pt x="1185257" y="1446217"/>
                    <a:pt x="1165610" y="1465864"/>
                    <a:pt x="1141374" y="1465864"/>
                  </a:cubicBezTo>
                  <a:lnTo>
                    <a:pt x="43883" y="1465864"/>
                  </a:lnTo>
                  <a:cubicBezTo>
                    <a:pt x="19647" y="1465864"/>
                    <a:pt x="0" y="1446217"/>
                    <a:pt x="0" y="1421981"/>
                  </a:cubicBezTo>
                  <a:lnTo>
                    <a:pt x="0" y="43883"/>
                  </a:lnTo>
                  <a:cubicBezTo>
                    <a:pt x="0" y="19647"/>
                    <a:pt x="19647" y="0"/>
                    <a:pt x="43883" y="0"/>
                  </a:cubicBezTo>
                  <a:close/>
                </a:path>
              </a:pathLst>
            </a:custGeom>
            <a:blipFill>
              <a:blip r:embed="rId2"/>
              <a:stretch>
                <a:fillRect l="-30239" r="-55388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-788751" y="7337993"/>
            <a:ext cx="3051719" cy="3363461"/>
            <a:chOff x="0" y="0"/>
            <a:chExt cx="803745" cy="8858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03745" cy="885850"/>
            </a:xfrm>
            <a:custGeom>
              <a:avLst/>
              <a:gdLst/>
              <a:ahLst/>
              <a:cxnLst/>
              <a:rect l="l" t="t" r="r" b="b"/>
              <a:pathLst>
                <a:path w="803745" h="885850">
                  <a:moveTo>
                    <a:pt x="129382" y="0"/>
                  </a:moveTo>
                  <a:lnTo>
                    <a:pt x="674363" y="0"/>
                  </a:lnTo>
                  <a:cubicBezTo>
                    <a:pt x="745819" y="0"/>
                    <a:pt x="803745" y="57926"/>
                    <a:pt x="803745" y="129382"/>
                  </a:cubicBezTo>
                  <a:lnTo>
                    <a:pt x="803745" y="756468"/>
                  </a:lnTo>
                  <a:cubicBezTo>
                    <a:pt x="803745" y="827923"/>
                    <a:pt x="745819" y="885850"/>
                    <a:pt x="674363" y="885850"/>
                  </a:cubicBezTo>
                  <a:lnTo>
                    <a:pt x="129382" y="885850"/>
                  </a:lnTo>
                  <a:cubicBezTo>
                    <a:pt x="57926" y="885850"/>
                    <a:pt x="0" y="827923"/>
                    <a:pt x="0" y="756468"/>
                  </a:cubicBezTo>
                  <a:lnTo>
                    <a:pt x="0" y="129382"/>
                  </a:lnTo>
                  <a:cubicBezTo>
                    <a:pt x="0" y="57926"/>
                    <a:pt x="57926" y="0"/>
                    <a:pt x="12938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D607D">
                    <a:alpha val="100000"/>
                  </a:srgbClr>
                </a:gs>
                <a:gs pos="20000">
                  <a:srgbClr val="3D607D">
                    <a:alpha val="100000"/>
                  </a:srgbClr>
                </a:gs>
                <a:gs pos="40000">
                  <a:srgbClr val="263744">
                    <a:alpha val="100000"/>
                  </a:srgbClr>
                </a:gs>
                <a:gs pos="60000">
                  <a:srgbClr val="263744">
                    <a:alpha val="100000"/>
                  </a:srgbClr>
                </a:gs>
                <a:gs pos="80000">
                  <a:srgbClr val="3D607D">
                    <a:alpha val="100000"/>
                  </a:srgbClr>
                </a:gs>
                <a:gs pos="100000">
                  <a:srgbClr val="3D607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03745" cy="923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22479" y="4930621"/>
            <a:ext cx="4675666" cy="4241954"/>
            <a:chOff x="0" y="0"/>
            <a:chExt cx="1231451" cy="111722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31451" cy="1117222"/>
            </a:xfrm>
            <a:custGeom>
              <a:avLst/>
              <a:gdLst/>
              <a:ahLst/>
              <a:cxnLst/>
              <a:rect l="l" t="t" r="r" b="b"/>
              <a:pathLst>
                <a:path w="1231451" h="1117222">
                  <a:moveTo>
                    <a:pt x="49674" y="0"/>
                  </a:moveTo>
                  <a:lnTo>
                    <a:pt x="1181777" y="0"/>
                  </a:lnTo>
                  <a:cubicBezTo>
                    <a:pt x="1209212" y="0"/>
                    <a:pt x="1231451" y="22240"/>
                    <a:pt x="1231451" y="49674"/>
                  </a:cubicBezTo>
                  <a:lnTo>
                    <a:pt x="1231451" y="1067549"/>
                  </a:lnTo>
                  <a:cubicBezTo>
                    <a:pt x="1231451" y="1080723"/>
                    <a:pt x="1226218" y="1093358"/>
                    <a:pt x="1216902" y="1102673"/>
                  </a:cubicBezTo>
                  <a:cubicBezTo>
                    <a:pt x="1207586" y="1111989"/>
                    <a:pt x="1194952" y="1117222"/>
                    <a:pt x="1181777" y="1117222"/>
                  </a:cubicBezTo>
                  <a:lnTo>
                    <a:pt x="49674" y="1117222"/>
                  </a:lnTo>
                  <a:cubicBezTo>
                    <a:pt x="36499" y="1117222"/>
                    <a:pt x="23865" y="1111989"/>
                    <a:pt x="14549" y="1102673"/>
                  </a:cubicBezTo>
                  <a:cubicBezTo>
                    <a:pt x="5233" y="1093358"/>
                    <a:pt x="0" y="1080723"/>
                    <a:pt x="0" y="1067549"/>
                  </a:cubicBezTo>
                  <a:lnTo>
                    <a:pt x="0" y="49674"/>
                  </a:lnTo>
                  <a:cubicBezTo>
                    <a:pt x="0" y="36499"/>
                    <a:pt x="5233" y="23865"/>
                    <a:pt x="14549" y="14549"/>
                  </a:cubicBezTo>
                  <a:cubicBezTo>
                    <a:pt x="23865" y="5233"/>
                    <a:pt x="36499" y="0"/>
                    <a:pt x="49674" y="0"/>
                  </a:cubicBezTo>
                  <a:close/>
                </a:path>
              </a:pathLst>
            </a:custGeom>
            <a:solidFill>
              <a:srgbClr val="6489A8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231451" cy="11553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09298" y="5591152"/>
            <a:ext cx="937505" cy="937505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E5FA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28700" y="1354547"/>
            <a:ext cx="8612707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99"/>
              </a:lnSpc>
            </a:pPr>
            <a:r>
              <a:rPr lang="en-US" sz="64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ПРОБЛЕМЫ РЫНКА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2460343"/>
            <a:ext cx="8115300" cy="1598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Строительная сфера остается одной из самых непрозрачных. Отсутствие единых стандартов и цифровых инструментов создает барьеры как для заказчиков, так и для добросовестных подрядчиков.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43475" y="5805904"/>
            <a:ext cx="669152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263744"/>
                </a:solidFill>
                <a:latin typeface="Poppins Bold"/>
                <a:ea typeface="Poppins Bold"/>
                <a:cs typeface="Poppins Bold"/>
                <a:sym typeface="Poppins Bold"/>
              </a:rPr>
              <a:t>01.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91125" y="5159896"/>
            <a:ext cx="3611605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Сложный поиск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91125" y="5805904"/>
            <a:ext cx="3848919" cy="318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Строительный рынок до сих пор не систематизирован. Сегодня нет единой платформы, где можно безопасно найти исполнителя и вести дела, поэтому процесс остается сложным и рискованным для обеих сторон.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088360" y="4930621"/>
            <a:ext cx="4675666" cy="4241954"/>
            <a:chOff x="0" y="0"/>
            <a:chExt cx="1231451" cy="111722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31451" cy="1117222"/>
            </a:xfrm>
            <a:custGeom>
              <a:avLst/>
              <a:gdLst/>
              <a:ahLst/>
              <a:cxnLst/>
              <a:rect l="l" t="t" r="r" b="b"/>
              <a:pathLst>
                <a:path w="1231451" h="1117222">
                  <a:moveTo>
                    <a:pt x="49674" y="0"/>
                  </a:moveTo>
                  <a:lnTo>
                    <a:pt x="1181777" y="0"/>
                  </a:lnTo>
                  <a:cubicBezTo>
                    <a:pt x="1209212" y="0"/>
                    <a:pt x="1231451" y="22240"/>
                    <a:pt x="1231451" y="49674"/>
                  </a:cubicBezTo>
                  <a:lnTo>
                    <a:pt x="1231451" y="1067549"/>
                  </a:lnTo>
                  <a:cubicBezTo>
                    <a:pt x="1231451" y="1080723"/>
                    <a:pt x="1226218" y="1093358"/>
                    <a:pt x="1216902" y="1102673"/>
                  </a:cubicBezTo>
                  <a:cubicBezTo>
                    <a:pt x="1207586" y="1111989"/>
                    <a:pt x="1194952" y="1117222"/>
                    <a:pt x="1181777" y="1117222"/>
                  </a:cubicBezTo>
                  <a:lnTo>
                    <a:pt x="49674" y="1117222"/>
                  </a:lnTo>
                  <a:cubicBezTo>
                    <a:pt x="36499" y="1117222"/>
                    <a:pt x="23865" y="1111989"/>
                    <a:pt x="14549" y="1102673"/>
                  </a:cubicBezTo>
                  <a:cubicBezTo>
                    <a:pt x="5233" y="1093358"/>
                    <a:pt x="0" y="1080723"/>
                    <a:pt x="0" y="1067549"/>
                  </a:cubicBezTo>
                  <a:lnTo>
                    <a:pt x="0" y="49674"/>
                  </a:lnTo>
                  <a:cubicBezTo>
                    <a:pt x="0" y="36499"/>
                    <a:pt x="5233" y="23865"/>
                    <a:pt x="14549" y="14549"/>
                  </a:cubicBezTo>
                  <a:cubicBezTo>
                    <a:pt x="23865" y="5233"/>
                    <a:pt x="36499" y="0"/>
                    <a:pt x="49674" y="0"/>
                  </a:cubicBezTo>
                  <a:close/>
                </a:path>
              </a:pathLst>
            </a:custGeom>
            <a:solidFill>
              <a:srgbClr val="6489A8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231451" cy="11553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675179" y="5591152"/>
            <a:ext cx="937505" cy="937505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E5FA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6809356" y="5805904"/>
            <a:ext cx="669152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263744"/>
                </a:solidFill>
                <a:latin typeface="Poppins Bold"/>
                <a:ea typeface="Poppins Bold"/>
                <a:cs typeface="Poppins Bold"/>
                <a:sym typeface="Poppins Bold"/>
              </a:rPr>
              <a:t>02.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757006" y="5159896"/>
            <a:ext cx="3611605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Отсутствие гарантий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757006" y="5805904"/>
            <a:ext cx="3848919" cy="318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При частном найме клиент остается один на один с исполнителем. Если возникнет спор, срыв сроков или брак, нет независимой стороны, которая защитит интересы заказчика и поможет урегулировать конфликт.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90725" y="4223881"/>
            <a:ext cx="4832283" cy="5091569"/>
            <a:chOff x="0" y="0"/>
            <a:chExt cx="1384316" cy="14585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84316" cy="1458594"/>
            </a:xfrm>
            <a:custGeom>
              <a:avLst/>
              <a:gdLst/>
              <a:ahLst/>
              <a:cxnLst/>
              <a:rect l="l" t="t" r="r" b="b"/>
              <a:pathLst>
                <a:path w="1384316" h="1458594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410530"/>
                  </a:lnTo>
                  <a:cubicBezTo>
                    <a:pt x="1384316" y="1423277"/>
                    <a:pt x="1379252" y="1435502"/>
                    <a:pt x="1370238" y="1444516"/>
                  </a:cubicBezTo>
                  <a:cubicBezTo>
                    <a:pt x="1361224" y="1453530"/>
                    <a:pt x="1348999" y="1458594"/>
                    <a:pt x="1336252" y="1458594"/>
                  </a:cubicBezTo>
                  <a:lnTo>
                    <a:pt x="48064" y="1458594"/>
                  </a:lnTo>
                  <a:cubicBezTo>
                    <a:pt x="35316" y="1458594"/>
                    <a:pt x="23091" y="1453530"/>
                    <a:pt x="14078" y="1444516"/>
                  </a:cubicBezTo>
                  <a:cubicBezTo>
                    <a:pt x="5064" y="1435502"/>
                    <a:pt x="0" y="1423277"/>
                    <a:pt x="0" y="1410530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6489A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84316" cy="14966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862923" y="3517400"/>
            <a:ext cx="1487887" cy="148788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E5F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727858" y="4223881"/>
            <a:ext cx="4832283" cy="5091569"/>
            <a:chOff x="0" y="0"/>
            <a:chExt cx="1384316" cy="14585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84316" cy="1458594"/>
            </a:xfrm>
            <a:custGeom>
              <a:avLst/>
              <a:gdLst/>
              <a:ahLst/>
              <a:cxnLst/>
              <a:rect l="l" t="t" r="r" b="b"/>
              <a:pathLst>
                <a:path w="1384316" h="1458594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410530"/>
                  </a:lnTo>
                  <a:cubicBezTo>
                    <a:pt x="1384316" y="1423277"/>
                    <a:pt x="1379252" y="1435502"/>
                    <a:pt x="1370238" y="1444516"/>
                  </a:cubicBezTo>
                  <a:cubicBezTo>
                    <a:pt x="1361224" y="1453530"/>
                    <a:pt x="1348999" y="1458594"/>
                    <a:pt x="1336252" y="1458594"/>
                  </a:cubicBezTo>
                  <a:lnTo>
                    <a:pt x="48064" y="1458594"/>
                  </a:lnTo>
                  <a:cubicBezTo>
                    <a:pt x="35316" y="1458594"/>
                    <a:pt x="23091" y="1453530"/>
                    <a:pt x="14078" y="1444516"/>
                  </a:cubicBezTo>
                  <a:cubicBezTo>
                    <a:pt x="5064" y="1435502"/>
                    <a:pt x="0" y="1423277"/>
                    <a:pt x="0" y="1410530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6489A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84316" cy="14966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400056" y="3517400"/>
            <a:ext cx="1487887" cy="14878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E5F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350810" y="9582150"/>
            <a:ext cx="9586380" cy="2409157"/>
            <a:chOff x="0" y="0"/>
            <a:chExt cx="2524808" cy="63451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524808" cy="634510"/>
            </a:xfrm>
            <a:custGeom>
              <a:avLst/>
              <a:gdLst/>
              <a:ahLst/>
              <a:cxnLst/>
              <a:rect l="l" t="t" r="r" b="b"/>
              <a:pathLst>
                <a:path w="2524808" h="634510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D607D">
                    <a:alpha val="100000"/>
                  </a:srgbClr>
                </a:gs>
                <a:gs pos="20000">
                  <a:srgbClr val="3D607D">
                    <a:alpha val="100000"/>
                  </a:srgbClr>
                </a:gs>
                <a:gs pos="40000">
                  <a:srgbClr val="263744">
                    <a:alpha val="100000"/>
                  </a:srgbClr>
                </a:gs>
                <a:gs pos="60000">
                  <a:srgbClr val="263744">
                    <a:alpha val="100000"/>
                  </a:srgbClr>
                </a:gs>
                <a:gs pos="80000">
                  <a:srgbClr val="3D607D">
                    <a:alpha val="100000"/>
                  </a:srgbClr>
                </a:gs>
                <a:gs pos="100000">
                  <a:srgbClr val="3D607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264992" y="4223881"/>
            <a:ext cx="4832283" cy="5091569"/>
            <a:chOff x="0" y="0"/>
            <a:chExt cx="1384316" cy="145859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84316" cy="1458594"/>
            </a:xfrm>
            <a:custGeom>
              <a:avLst/>
              <a:gdLst/>
              <a:ahLst/>
              <a:cxnLst/>
              <a:rect l="l" t="t" r="r" b="b"/>
              <a:pathLst>
                <a:path w="1384316" h="1458594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410530"/>
                  </a:lnTo>
                  <a:cubicBezTo>
                    <a:pt x="1384316" y="1423277"/>
                    <a:pt x="1379252" y="1435502"/>
                    <a:pt x="1370238" y="1444516"/>
                  </a:cubicBezTo>
                  <a:cubicBezTo>
                    <a:pt x="1361224" y="1453530"/>
                    <a:pt x="1348999" y="1458594"/>
                    <a:pt x="1336252" y="1458594"/>
                  </a:cubicBezTo>
                  <a:lnTo>
                    <a:pt x="48064" y="1458594"/>
                  </a:lnTo>
                  <a:cubicBezTo>
                    <a:pt x="35316" y="1458594"/>
                    <a:pt x="23091" y="1453530"/>
                    <a:pt x="14078" y="1444516"/>
                  </a:cubicBezTo>
                  <a:cubicBezTo>
                    <a:pt x="5064" y="1435502"/>
                    <a:pt x="0" y="1423277"/>
                    <a:pt x="0" y="1410530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6489A8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384316" cy="14966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937190" y="3517400"/>
            <a:ext cx="1487887" cy="1487887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E5FA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3252327" y="3975052"/>
            <a:ext cx="709080" cy="572582"/>
          </a:xfrm>
          <a:custGeom>
            <a:avLst/>
            <a:gdLst/>
            <a:ahLst/>
            <a:cxnLst/>
            <a:rect l="l" t="t" r="r" b="b"/>
            <a:pathLst>
              <a:path w="709080" h="572582">
                <a:moveTo>
                  <a:pt x="0" y="0"/>
                </a:moveTo>
                <a:lnTo>
                  <a:pt x="709079" y="0"/>
                </a:lnTo>
                <a:lnTo>
                  <a:pt x="709079" y="572582"/>
                </a:lnTo>
                <a:lnTo>
                  <a:pt x="0" y="572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4325925" y="3913510"/>
            <a:ext cx="653926" cy="695666"/>
          </a:xfrm>
          <a:custGeom>
            <a:avLst/>
            <a:gdLst/>
            <a:ahLst/>
            <a:cxnLst/>
            <a:rect l="l" t="t" r="r" b="b"/>
            <a:pathLst>
              <a:path w="653926" h="695666">
                <a:moveTo>
                  <a:pt x="0" y="0"/>
                </a:moveTo>
                <a:lnTo>
                  <a:pt x="653926" y="0"/>
                </a:lnTo>
                <a:lnTo>
                  <a:pt x="653926" y="695666"/>
                </a:lnTo>
                <a:lnTo>
                  <a:pt x="0" y="695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8615940" y="3752486"/>
            <a:ext cx="1056119" cy="1017715"/>
          </a:xfrm>
          <a:custGeom>
            <a:avLst/>
            <a:gdLst/>
            <a:ahLst/>
            <a:cxnLst/>
            <a:rect l="l" t="t" r="r" b="b"/>
            <a:pathLst>
              <a:path w="1056119" h="1017715">
                <a:moveTo>
                  <a:pt x="0" y="0"/>
                </a:moveTo>
                <a:lnTo>
                  <a:pt x="1056120" y="0"/>
                </a:lnTo>
                <a:lnTo>
                  <a:pt x="1056120" y="1017715"/>
                </a:lnTo>
                <a:lnTo>
                  <a:pt x="0" y="10177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5152502" y="660400"/>
            <a:ext cx="7982997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sz="6499" b="1">
                <a:solidFill>
                  <a:srgbClr val="E9EBED"/>
                </a:solidFill>
                <a:latin typeface="Inter Bold"/>
                <a:ea typeface="Inter Bold"/>
                <a:cs typeface="Inter Bold"/>
                <a:sym typeface="Inter Bold"/>
              </a:rPr>
              <a:t>НАШЕ РЕШЕНИЕ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27528" y="5186971"/>
            <a:ext cx="3149630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Тендерная система выбора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161556" y="5186971"/>
            <a:ext cx="4143204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Прозрачный контроль этапов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878509" y="5186971"/>
            <a:ext cx="3744068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Маркетплейс товаров и услуг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83861" y="6401726"/>
            <a:ext cx="4046010" cy="223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Заказчик создает заявку, а компании сами предлагают условия. Выбор исполнителя происходит на основе прозрачного рейтинга и цены, а не «вслепую».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083451" y="6401726"/>
            <a:ext cx="4299413" cy="223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Вместо устных обещаний — четкие цифровые статусы и поддержка. Клиент видит прогресс в реальном времени и подтверждает каждый этап выполнения работ.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727538" y="6401726"/>
            <a:ext cx="4046010" cy="260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Комплексный подход: в приложении можно не только заказать услуги (проектирование и ремонт), но и сразу купить необходимые стройматериалы.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164174" y="1804169"/>
            <a:ext cx="9959653" cy="131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С MyBuild клиентам больше не нужно тратить время на сложный поиск и контроль. Мы объединили все необходимые инструменты в одной экосистеме.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063693" y="7861462"/>
            <a:ext cx="3367739" cy="3062495"/>
            <a:chOff x="0" y="0"/>
            <a:chExt cx="886976" cy="8065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86976" cy="806583"/>
            </a:xfrm>
            <a:custGeom>
              <a:avLst/>
              <a:gdLst/>
              <a:ahLst/>
              <a:cxnLst/>
              <a:rect l="l" t="t" r="r" b="b"/>
              <a:pathLst>
                <a:path w="886976" h="806583">
                  <a:moveTo>
                    <a:pt x="117241" y="0"/>
                  </a:moveTo>
                  <a:lnTo>
                    <a:pt x="769735" y="0"/>
                  </a:lnTo>
                  <a:cubicBezTo>
                    <a:pt x="800829" y="0"/>
                    <a:pt x="830650" y="12352"/>
                    <a:pt x="852637" y="34339"/>
                  </a:cubicBezTo>
                  <a:cubicBezTo>
                    <a:pt x="874624" y="56326"/>
                    <a:pt x="886976" y="86147"/>
                    <a:pt x="886976" y="117241"/>
                  </a:cubicBezTo>
                  <a:lnTo>
                    <a:pt x="886976" y="689342"/>
                  </a:lnTo>
                  <a:cubicBezTo>
                    <a:pt x="886976" y="754092"/>
                    <a:pt x="834486" y="806583"/>
                    <a:pt x="769735" y="806583"/>
                  </a:cubicBezTo>
                  <a:lnTo>
                    <a:pt x="117241" y="806583"/>
                  </a:lnTo>
                  <a:cubicBezTo>
                    <a:pt x="52491" y="806583"/>
                    <a:pt x="0" y="754092"/>
                    <a:pt x="0" y="689342"/>
                  </a:cubicBezTo>
                  <a:lnTo>
                    <a:pt x="0" y="117241"/>
                  </a:lnTo>
                  <a:cubicBezTo>
                    <a:pt x="0" y="52491"/>
                    <a:pt x="52491" y="0"/>
                    <a:pt x="1172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D607D">
                    <a:alpha val="100000"/>
                  </a:srgbClr>
                </a:gs>
                <a:gs pos="20000">
                  <a:srgbClr val="3D607D">
                    <a:alpha val="100000"/>
                  </a:srgbClr>
                </a:gs>
                <a:gs pos="40000">
                  <a:srgbClr val="263744">
                    <a:alpha val="100000"/>
                  </a:srgbClr>
                </a:gs>
                <a:gs pos="60000">
                  <a:srgbClr val="263744">
                    <a:alpha val="100000"/>
                  </a:srgbClr>
                </a:gs>
                <a:gs pos="80000">
                  <a:srgbClr val="3D607D">
                    <a:alpha val="100000"/>
                  </a:srgbClr>
                </a:gs>
                <a:gs pos="100000">
                  <a:srgbClr val="3D607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86976" cy="84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709587" y="-785829"/>
            <a:ext cx="12595675" cy="5141408"/>
            <a:chOff x="0" y="0"/>
            <a:chExt cx="3317379" cy="13541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317379" cy="1354116"/>
            </a:xfrm>
            <a:custGeom>
              <a:avLst/>
              <a:gdLst/>
              <a:ahLst/>
              <a:cxnLst/>
              <a:rect l="l" t="t" r="r" b="b"/>
              <a:pathLst>
                <a:path w="3317379" h="1354116">
                  <a:moveTo>
                    <a:pt x="31347" y="0"/>
                  </a:moveTo>
                  <a:lnTo>
                    <a:pt x="3286032" y="0"/>
                  </a:lnTo>
                  <a:cubicBezTo>
                    <a:pt x="3294346" y="0"/>
                    <a:pt x="3302319" y="3303"/>
                    <a:pt x="3308198" y="9181"/>
                  </a:cubicBezTo>
                  <a:cubicBezTo>
                    <a:pt x="3314077" y="15060"/>
                    <a:pt x="3317379" y="23033"/>
                    <a:pt x="3317379" y="31347"/>
                  </a:cubicBezTo>
                  <a:lnTo>
                    <a:pt x="3317379" y="1322768"/>
                  </a:lnTo>
                  <a:cubicBezTo>
                    <a:pt x="3317379" y="1331082"/>
                    <a:pt x="3314077" y="1339056"/>
                    <a:pt x="3308198" y="1344934"/>
                  </a:cubicBezTo>
                  <a:cubicBezTo>
                    <a:pt x="3302319" y="1350813"/>
                    <a:pt x="3294346" y="1354116"/>
                    <a:pt x="3286032" y="1354116"/>
                  </a:cubicBezTo>
                  <a:lnTo>
                    <a:pt x="31347" y="1354116"/>
                  </a:lnTo>
                  <a:cubicBezTo>
                    <a:pt x="14035" y="1354116"/>
                    <a:pt x="0" y="1340081"/>
                    <a:pt x="0" y="1322768"/>
                  </a:cubicBezTo>
                  <a:lnTo>
                    <a:pt x="0" y="31347"/>
                  </a:lnTo>
                  <a:cubicBezTo>
                    <a:pt x="0" y="23033"/>
                    <a:pt x="3303" y="15060"/>
                    <a:pt x="9181" y="9181"/>
                  </a:cubicBezTo>
                  <a:cubicBezTo>
                    <a:pt x="15060" y="3303"/>
                    <a:pt x="23033" y="0"/>
                    <a:pt x="3134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D607D">
                    <a:alpha val="100000"/>
                  </a:srgbClr>
                </a:gs>
                <a:gs pos="20000">
                  <a:srgbClr val="3D607D">
                    <a:alpha val="100000"/>
                  </a:srgbClr>
                </a:gs>
                <a:gs pos="40000">
                  <a:srgbClr val="263744">
                    <a:alpha val="100000"/>
                  </a:srgbClr>
                </a:gs>
                <a:gs pos="60000">
                  <a:srgbClr val="263744">
                    <a:alpha val="100000"/>
                  </a:srgbClr>
                </a:gs>
                <a:gs pos="80000">
                  <a:srgbClr val="3D607D">
                    <a:alpha val="100000"/>
                  </a:srgbClr>
                </a:gs>
                <a:gs pos="100000">
                  <a:srgbClr val="3D607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317379" cy="13922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175674" y="5751561"/>
            <a:ext cx="8627056" cy="4932789"/>
            <a:chOff x="0" y="0"/>
            <a:chExt cx="2272146" cy="12991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72146" cy="1299171"/>
            </a:xfrm>
            <a:custGeom>
              <a:avLst/>
              <a:gdLst/>
              <a:ahLst/>
              <a:cxnLst/>
              <a:rect l="l" t="t" r="r" b="b"/>
              <a:pathLst>
                <a:path w="2272146" h="1299171">
                  <a:moveTo>
                    <a:pt x="45767" y="0"/>
                  </a:moveTo>
                  <a:lnTo>
                    <a:pt x="2226379" y="0"/>
                  </a:lnTo>
                  <a:cubicBezTo>
                    <a:pt x="2251656" y="0"/>
                    <a:pt x="2272146" y="20491"/>
                    <a:pt x="2272146" y="45767"/>
                  </a:cubicBezTo>
                  <a:lnTo>
                    <a:pt x="2272146" y="1253404"/>
                  </a:lnTo>
                  <a:cubicBezTo>
                    <a:pt x="2272146" y="1265542"/>
                    <a:pt x="2267324" y="1277183"/>
                    <a:pt x="2258741" y="1285766"/>
                  </a:cubicBezTo>
                  <a:cubicBezTo>
                    <a:pt x="2250158" y="1294349"/>
                    <a:pt x="2238517" y="1299171"/>
                    <a:pt x="2226379" y="1299171"/>
                  </a:cubicBezTo>
                  <a:lnTo>
                    <a:pt x="45767" y="1299171"/>
                  </a:lnTo>
                  <a:cubicBezTo>
                    <a:pt x="20491" y="1299171"/>
                    <a:pt x="0" y="1278680"/>
                    <a:pt x="0" y="1253404"/>
                  </a:cubicBezTo>
                  <a:lnTo>
                    <a:pt x="0" y="45767"/>
                  </a:lnTo>
                  <a:cubicBezTo>
                    <a:pt x="0" y="20491"/>
                    <a:pt x="20491" y="0"/>
                    <a:pt x="4576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D607D">
                    <a:alpha val="100000"/>
                  </a:srgbClr>
                </a:gs>
                <a:gs pos="20000">
                  <a:srgbClr val="3D607D">
                    <a:alpha val="100000"/>
                  </a:srgbClr>
                </a:gs>
                <a:gs pos="40000">
                  <a:srgbClr val="263744">
                    <a:alpha val="100000"/>
                  </a:srgbClr>
                </a:gs>
                <a:gs pos="60000">
                  <a:srgbClr val="263744">
                    <a:alpha val="100000"/>
                  </a:srgbClr>
                </a:gs>
                <a:gs pos="80000">
                  <a:srgbClr val="3D607D">
                    <a:alpha val="100000"/>
                  </a:srgbClr>
                </a:gs>
                <a:gs pos="100000">
                  <a:srgbClr val="3D607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272146" cy="13372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470918" y="-2562"/>
            <a:ext cx="6855136" cy="6141305"/>
          </a:xfrm>
          <a:custGeom>
            <a:avLst/>
            <a:gdLst/>
            <a:ahLst/>
            <a:cxnLst/>
            <a:rect l="l" t="t" r="r" b="b"/>
            <a:pathLst>
              <a:path w="6855136" h="6141305">
                <a:moveTo>
                  <a:pt x="0" y="0"/>
                </a:moveTo>
                <a:lnTo>
                  <a:pt x="6855135" y="0"/>
                </a:lnTo>
                <a:lnTo>
                  <a:pt x="6855135" y="6141304"/>
                </a:lnTo>
                <a:lnTo>
                  <a:pt x="0" y="61413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0" y="4021011"/>
            <a:ext cx="11470918" cy="6265989"/>
          </a:xfrm>
          <a:custGeom>
            <a:avLst/>
            <a:gdLst/>
            <a:ahLst/>
            <a:cxnLst/>
            <a:rect l="l" t="t" r="r" b="b"/>
            <a:pathLst>
              <a:path w="11470918" h="6265989">
                <a:moveTo>
                  <a:pt x="0" y="0"/>
                </a:moveTo>
                <a:lnTo>
                  <a:pt x="11470918" y="0"/>
                </a:lnTo>
                <a:lnTo>
                  <a:pt x="11470918" y="6265989"/>
                </a:lnTo>
                <a:lnTo>
                  <a:pt x="0" y="6265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030034" y="6000100"/>
            <a:ext cx="3736902" cy="4111885"/>
          </a:xfrm>
          <a:custGeom>
            <a:avLst/>
            <a:gdLst/>
            <a:ahLst/>
            <a:cxnLst/>
            <a:rect l="l" t="t" r="r" b="b"/>
            <a:pathLst>
              <a:path w="3736902" h="4111885">
                <a:moveTo>
                  <a:pt x="0" y="0"/>
                </a:moveTo>
                <a:lnTo>
                  <a:pt x="3736903" y="0"/>
                </a:lnTo>
                <a:lnTo>
                  <a:pt x="3736903" y="4111886"/>
                </a:lnTo>
                <a:lnTo>
                  <a:pt x="0" y="41118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57710" y="228102"/>
            <a:ext cx="9555498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1">
                <a:solidFill>
                  <a:srgbClr val="E9EBED"/>
                </a:solidFill>
                <a:latin typeface="Inter Bold"/>
                <a:ea typeface="Inter Bold"/>
                <a:cs typeface="Inter Bold"/>
                <a:sym typeface="Inter Bold"/>
              </a:rPr>
              <a:t>ИНТУИТИВНЫЙ ИНТЕРФЕЙС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52136" y="1184757"/>
            <a:ext cx="7272229" cy="248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Быстрое создание заявки Клиент заполняет простую форму: указывает параметры объекта, бюджет и сроки. Есть возможность прикрепить чертежи и файлы проекта в один клик.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Полный контроль Все заказы собраны в едином списке. Статусы, сроки и исполнители всегда перед глазами — ничего не теряется.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44440" y="6616939"/>
            <a:ext cx="19376880" cy="3815775"/>
            <a:chOff x="0" y="0"/>
            <a:chExt cx="5103376" cy="10049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03376" cy="1004978"/>
            </a:xfrm>
            <a:custGeom>
              <a:avLst/>
              <a:gdLst/>
              <a:ahLst/>
              <a:cxnLst/>
              <a:rect l="l" t="t" r="r" b="b"/>
              <a:pathLst>
                <a:path w="5103376" h="1004978">
                  <a:moveTo>
                    <a:pt x="0" y="0"/>
                  </a:moveTo>
                  <a:lnTo>
                    <a:pt x="5103376" y="0"/>
                  </a:lnTo>
                  <a:lnTo>
                    <a:pt x="5103376" y="1004978"/>
                  </a:lnTo>
                  <a:lnTo>
                    <a:pt x="0" y="1004978"/>
                  </a:lnTo>
                  <a:close/>
                </a:path>
              </a:pathLst>
            </a:custGeom>
            <a:solidFill>
              <a:srgbClr val="26374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103376" cy="10430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5400000" flipH="1" flipV="1">
            <a:off x="-872843" y="2214479"/>
            <a:ext cx="6139956" cy="3768398"/>
          </a:xfrm>
          <a:custGeom>
            <a:avLst/>
            <a:gdLst/>
            <a:ahLst/>
            <a:cxnLst/>
            <a:rect l="l" t="t" r="r" b="b"/>
            <a:pathLst>
              <a:path w="6139956" h="3768398">
                <a:moveTo>
                  <a:pt x="6139956" y="3768398"/>
                </a:moveTo>
                <a:lnTo>
                  <a:pt x="0" y="3768398"/>
                </a:lnTo>
                <a:lnTo>
                  <a:pt x="0" y="0"/>
                </a:lnTo>
                <a:lnTo>
                  <a:pt x="6139956" y="0"/>
                </a:lnTo>
                <a:lnTo>
                  <a:pt x="6139956" y="3768398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02064" y="1143127"/>
            <a:ext cx="3590140" cy="5267756"/>
            <a:chOff x="0" y="0"/>
            <a:chExt cx="1073811" cy="157558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3811" cy="1575585"/>
            </a:xfrm>
            <a:custGeom>
              <a:avLst/>
              <a:gdLst/>
              <a:ahLst/>
              <a:cxnLst/>
              <a:rect l="l" t="t" r="r" b="b"/>
              <a:pathLst>
                <a:path w="1073811" h="1575585">
                  <a:moveTo>
                    <a:pt x="86258" y="0"/>
                  </a:moveTo>
                  <a:lnTo>
                    <a:pt x="987553" y="0"/>
                  </a:lnTo>
                  <a:cubicBezTo>
                    <a:pt x="1010430" y="0"/>
                    <a:pt x="1032370" y="9088"/>
                    <a:pt x="1048546" y="25264"/>
                  </a:cubicBezTo>
                  <a:cubicBezTo>
                    <a:pt x="1064723" y="41441"/>
                    <a:pt x="1073811" y="63381"/>
                    <a:pt x="1073811" y="86258"/>
                  </a:cubicBezTo>
                  <a:lnTo>
                    <a:pt x="1073811" y="1489328"/>
                  </a:lnTo>
                  <a:cubicBezTo>
                    <a:pt x="1073811" y="1512204"/>
                    <a:pt x="1064723" y="1534144"/>
                    <a:pt x="1048546" y="1550321"/>
                  </a:cubicBezTo>
                  <a:cubicBezTo>
                    <a:pt x="1032370" y="1566497"/>
                    <a:pt x="1010430" y="1575585"/>
                    <a:pt x="987553" y="1575585"/>
                  </a:cubicBezTo>
                  <a:lnTo>
                    <a:pt x="86258" y="1575585"/>
                  </a:lnTo>
                  <a:cubicBezTo>
                    <a:pt x="63381" y="1575585"/>
                    <a:pt x="41441" y="1566497"/>
                    <a:pt x="25264" y="1550321"/>
                  </a:cubicBezTo>
                  <a:cubicBezTo>
                    <a:pt x="9088" y="1534144"/>
                    <a:pt x="0" y="1512204"/>
                    <a:pt x="0" y="1489328"/>
                  </a:cubicBezTo>
                  <a:lnTo>
                    <a:pt x="0" y="86258"/>
                  </a:lnTo>
                  <a:cubicBezTo>
                    <a:pt x="0" y="63381"/>
                    <a:pt x="9088" y="41441"/>
                    <a:pt x="25264" y="25264"/>
                  </a:cubicBezTo>
                  <a:cubicBezTo>
                    <a:pt x="41441" y="9088"/>
                    <a:pt x="63381" y="0"/>
                    <a:pt x="86258" y="0"/>
                  </a:cubicBezTo>
                  <a:close/>
                </a:path>
              </a:pathLst>
            </a:custGeom>
            <a:solidFill>
              <a:srgbClr val="E9EBE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73811" cy="1613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5400000" flipH="1" flipV="1">
            <a:off x="3636241" y="2214479"/>
            <a:ext cx="6139956" cy="3768398"/>
          </a:xfrm>
          <a:custGeom>
            <a:avLst/>
            <a:gdLst/>
            <a:ahLst/>
            <a:cxnLst/>
            <a:rect l="l" t="t" r="r" b="b"/>
            <a:pathLst>
              <a:path w="6139956" h="3768398">
                <a:moveTo>
                  <a:pt x="6139956" y="3768398"/>
                </a:moveTo>
                <a:lnTo>
                  <a:pt x="0" y="3768398"/>
                </a:lnTo>
                <a:lnTo>
                  <a:pt x="0" y="0"/>
                </a:lnTo>
                <a:lnTo>
                  <a:pt x="6139956" y="0"/>
                </a:lnTo>
                <a:lnTo>
                  <a:pt x="6139956" y="3768398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912875" y="1143127"/>
            <a:ext cx="3590140" cy="5267756"/>
            <a:chOff x="0" y="0"/>
            <a:chExt cx="1073811" cy="157558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3811" cy="1575585"/>
            </a:xfrm>
            <a:custGeom>
              <a:avLst/>
              <a:gdLst/>
              <a:ahLst/>
              <a:cxnLst/>
              <a:rect l="l" t="t" r="r" b="b"/>
              <a:pathLst>
                <a:path w="1073811" h="1575585">
                  <a:moveTo>
                    <a:pt x="86258" y="0"/>
                  </a:moveTo>
                  <a:lnTo>
                    <a:pt x="987553" y="0"/>
                  </a:lnTo>
                  <a:cubicBezTo>
                    <a:pt x="1010430" y="0"/>
                    <a:pt x="1032370" y="9088"/>
                    <a:pt x="1048546" y="25264"/>
                  </a:cubicBezTo>
                  <a:cubicBezTo>
                    <a:pt x="1064723" y="41441"/>
                    <a:pt x="1073811" y="63381"/>
                    <a:pt x="1073811" y="86258"/>
                  </a:cubicBezTo>
                  <a:lnTo>
                    <a:pt x="1073811" y="1489328"/>
                  </a:lnTo>
                  <a:cubicBezTo>
                    <a:pt x="1073811" y="1512204"/>
                    <a:pt x="1064723" y="1534144"/>
                    <a:pt x="1048546" y="1550321"/>
                  </a:cubicBezTo>
                  <a:cubicBezTo>
                    <a:pt x="1032370" y="1566497"/>
                    <a:pt x="1010430" y="1575585"/>
                    <a:pt x="987553" y="1575585"/>
                  </a:cubicBezTo>
                  <a:lnTo>
                    <a:pt x="86258" y="1575585"/>
                  </a:lnTo>
                  <a:cubicBezTo>
                    <a:pt x="63381" y="1575585"/>
                    <a:pt x="41441" y="1566497"/>
                    <a:pt x="25264" y="1550321"/>
                  </a:cubicBezTo>
                  <a:cubicBezTo>
                    <a:pt x="9088" y="1534144"/>
                    <a:pt x="0" y="1512204"/>
                    <a:pt x="0" y="1489328"/>
                  </a:cubicBezTo>
                  <a:lnTo>
                    <a:pt x="0" y="86258"/>
                  </a:lnTo>
                  <a:cubicBezTo>
                    <a:pt x="0" y="63381"/>
                    <a:pt x="9088" y="41441"/>
                    <a:pt x="25264" y="25264"/>
                  </a:cubicBezTo>
                  <a:cubicBezTo>
                    <a:pt x="41441" y="9088"/>
                    <a:pt x="63381" y="0"/>
                    <a:pt x="86258" y="0"/>
                  </a:cubicBezTo>
                  <a:close/>
                </a:path>
              </a:pathLst>
            </a:custGeom>
            <a:solidFill>
              <a:srgbClr val="3C586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73811" cy="1613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734254" y="2441690"/>
            <a:ext cx="794918" cy="993647"/>
          </a:xfrm>
          <a:custGeom>
            <a:avLst/>
            <a:gdLst/>
            <a:ahLst/>
            <a:cxnLst/>
            <a:rect l="l" t="t" r="r" b="b"/>
            <a:pathLst>
              <a:path w="794918" h="993647">
                <a:moveTo>
                  <a:pt x="0" y="0"/>
                </a:moveTo>
                <a:lnTo>
                  <a:pt x="794918" y="0"/>
                </a:lnTo>
                <a:lnTo>
                  <a:pt x="794918" y="993647"/>
                </a:lnTo>
                <a:lnTo>
                  <a:pt x="0" y="9936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302356" y="2441690"/>
            <a:ext cx="811178" cy="993647"/>
          </a:xfrm>
          <a:custGeom>
            <a:avLst/>
            <a:gdLst/>
            <a:ahLst/>
            <a:cxnLst/>
            <a:rect l="l" t="t" r="r" b="b"/>
            <a:pathLst>
              <a:path w="811178" h="993647">
                <a:moveTo>
                  <a:pt x="0" y="0"/>
                </a:moveTo>
                <a:lnTo>
                  <a:pt x="811178" y="0"/>
                </a:lnTo>
                <a:lnTo>
                  <a:pt x="811178" y="993647"/>
                </a:lnTo>
                <a:lnTo>
                  <a:pt x="0" y="9936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5400000" flipH="1" flipV="1">
            <a:off x="8328564" y="2159222"/>
            <a:ext cx="6139956" cy="3768398"/>
          </a:xfrm>
          <a:custGeom>
            <a:avLst/>
            <a:gdLst/>
            <a:ahLst/>
            <a:cxnLst/>
            <a:rect l="l" t="t" r="r" b="b"/>
            <a:pathLst>
              <a:path w="6139956" h="3768398">
                <a:moveTo>
                  <a:pt x="6139956" y="3768398"/>
                </a:moveTo>
                <a:lnTo>
                  <a:pt x="0" y="3768398"/>
                </a:lnTo>
                <a:lnTo>
                  <a:pt x="0" y="0"/>
                </a:lnTo>
                <a:lnTo>
                  <a:pt x="6139956" y="0"/>
                </a:lnTo>
                <a:lnTo>
                  <a:pt x="6139956" y="3768398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9603472" y="1087870"/>
            <a:ext cx="3590140" cy="5267756"/>
            <a:chOff x="0" y="0"/>
            <a:chExt cx="1073811" cy="157558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3811" cy="1575585"/>
            </a:xfrm>
            <a:custGeom>
              <a:avLst/>
              <a:gdLst/>
              <a:ahLst/>
              <a:cxnLst/>
              <a:rect l="l" t="t" r="r" b="b"/>
              <a:pathLst>
                <a:path w="1073811" h="1575585">
                  <a:moveTo>
                    <a:pt x="86258" y="0"/>
                  </a:moveTo>
                  <a:lnTo>
                    <a:pt x="987553" y="0"/>
                  </a:lnTo>
                  <a:cubicBezTo>
                    <a:pt x="1010430" y="0"/>
                    <a:pt x="1032370" y="9088"/>
                    <a:pt x="1048546" y="25264"/>
                  </a:cubicBezTo>
                  <a:cubicBezTo>
                    <a:pt x="1064723" y="41441"/>
                    <a:pt x="1073811" y="63381"/>
                    <a:pt x="1073811" y="86258"/>
                  </a:cubicBezTo>
                  <a:lnTo>
                    <a:pt x="1073811" y="1489328"/>
                  </a:lnTo>
                  <a:cubicBezTo>
                    <a:pt x="1073811" y="1512204"/>
                    <a:pt x="1064723" y="1534144"/>
                    <a:pt x="1048546" y="1550321"/>
                  </a:cubicBezTo>
                  <a:cubicBezTo>
                    <a:pt x="1032370" y="1566497"/>
                    <a:pt x="1010430" y="1575585"/>
                    <a:pt x="987553" y="1575585"/>
                  </a:cubicBezTo>
                  <a:lnTo>
                    <a:pt x="86258" y="1575585"/>
                  </a:lnTo>
                  <a:cubicBezTo>
                    <a:pt x="63381" y="1575585"/>
                    <a:pt x="41441" y="1566497"/>
                    <a:pt x="25264" y="1550321"/>
                  </a:cubicBezTo>
                  <a:cubicBezTo>
                    <a:pt x="9088" y="1534144"/>
                    <a:pt x="0" y="1512204"/>
                    <a:pt x="0" y="1489328"/>
                  </a:cubicBezTo>
                  <a:lnTo>
                    <a:pt x="0" y="86258"/>
                  </a:lnTo>
                  <a:cubicBezTo>
                    <a:pt x="0" y="63381"/>
                    <a:pt x="9088" y="41441"/>
                    <a:pt x="25264" y="25264"/>
                  </a:cubicBezTo>
                  <a:cubicBezTo>
                    <a:pt x="41441" y="9088"/>
                    <a:pt x="63381" y="0"/>
                    <a:pt x="86258" y="0"/>
                  </a:cubicBezTo>
                  <a:close/>
                </a:path>
              </a:pathLst>
            </a:custGeom>
            <a:solidFill>
              <a:srgbClr val="E9EBED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073811" cy="1613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 rot="5400000" flipH="1" flipV="1">
            <a:off x="13020887" y="2159222"/>
            <a:ext cx="6139956" cy="3768398"/>
          </a:xfrm>
          <a:custGeom>
            <a:avLst/>
            <a:gdLst/>
            <a:ahLst/>
            <a:cxnLst/>
            <a:rect l="l" t="t" r="r" b="b"/>
            <a:pathLst>
              <a:path w="6139956" h="3768398">
                <a:moveTo>
                  <a:pt x="6139956" y="3768398"/>
                </a:moveTo>
                <a:lnTo>
                  <a:pt x="0" y="3768398"/>
                </a:lnTo>
                <a:lnTo>
                  <a:pt x="0" y="0"/>
                </a:lnTo>
                <a:lnTo>
                  <a:pt x="6139956" y="0"/>
                </a:lnTo>
                <a:lnTo>
                  <a:pt x="6139956" y="3768398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4297521" y="1087870"/>
            <a:ext cx="3590140" cy="5267756"/>
            <a:chOff x="0" y="0"/>
            <a:chExt cx="1073811" cy="157558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73811" cy="1575585"/>
            </a:xfrm>
            <a:custGeom>
              <a:avLst/>
              <a:gdLst/>
              <a:ahLst/>
              <a:cxnLst/>
              <a:rect l="l" t="t" r="r" b="b"/>
              <a:pathLst>
                <a:path w="1073811" h="1575585">
                  <a:moveTo>
                    <a:pt x="86258" y="0"/>
                  </a:moveTo>
                  <a:lnTo>
                    <a:pt x="987553" y="0"/>
                  </a:lnTo>
                  <a:cubicBezTo>
                    <a:pt x="1010430" y="0"/>
                    <a:pt x="1032370" y="9088"/>
                    <a:pt x="1048546" y="25264"/>
                  </a:cubicBezTo>
                  <a:cubicBezTo>
                    <a:pt x="1064723" y="41441"/>
                    <a:pt x="1073811" y="63381"/>
                    <a:pt x="1073811" y="86258"/>
                  </a:cubicBezTo>
                  <a:lnTo>
                    <a:pt x="1073811" y="1489328"/>
                  </a:lnTo>
                  <a:cubicBezTo>
                    <a:pt x="1073811" y="1512204"/>
                    <a:pt x="1064723" y="1534144"/>
                    <a:pt x="1048546" y="1550321"/>
                  </a:cubicBezTo>
                  <a:cubicBezTo>
                    <a:pt x="1032370" y="1566497"/>
                    <a:pt x="1010430" y="1575585"/>
                    <a:pt x="987553" y="1575585"/>
                  </a:cubicBezTo>
                  <a:lnTo>
                    <a:pt x="86258" y="1575585"/>
                  </a:lnTo>
                  <a:cubicBezTo>
                    <a:pt x="63381" y="1575585"/>
                    <a:pt x="41441" y="1566497"/>
                    <a:pt x="25264" y="1550321"/>
                  </a:cubicBezTo>
                  <a:cubicBezTo>
                    <a:pt x="9088" y="1534144"/>
                    <a:pt x="0" y="1512204"/>
                    <a:pt x="0" y="1489328"/>
                  </a:cubicBezTo>
                  <a:lnTo>
                    <a:pt x="0" y="86258"/>
                  </a:lnTo>
                  <a:cubicBezTo>
                    <a:pt x="0" y="63381"/>
                    <a:pt x="9088" y="41441"/>
                    <a:pt x="25264" y="25264"/>
                  </a:cubicBezTo>
                  <a:cubicBezTo>
                    <a:pt x="41441" y="9088"/>
                    <a:pt x="63381" y="0"/>
                    <a:pt x="86258" y="0"/>
                  </a:cubicBezTo>
                  <a:close/>
                </a:path>
              </a:pathLst>
            </a:custGeom>
            <a:solidFill>
              <a:srgbClr val="3C586D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073811" cy="1613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5533476" y="2396826"/>
            <a:ext cx="1118230" cy="972860"/>
          </a:xfrm>
          <a:custGeom>
            <a:avLst/>
            <a:gdLst/>
            <a:ahLst/>
            <a:cxnLst/>
            <a:rect l="l" t="t" r="r" b="b"/>
            <a:pathLst>
              <a:path w="1118230" h="972860">
                <a:moveTo>
                  <a:pt x="0" y="0"/>
                </a:moveTo>
                <a:lnTo>
                  <a:pt x="1118230" y="0"/>
                </a:lnTo>
                <a:lnTo>
                  <a:pt x="1118230" y="972861"/>
                </a:lnTo>
                <a:lnTo>
                  <a:pt x="0" y="9728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0899061" y="2376967"/>
            <a:ext cx="998963" cy="992719"/>
          </a:xfrm>
          <a:custGeom>
            <a:avLst/>
            <a:gdLst/>
            <a:ahLst/>
            <a:cxnLst/>
            <a:rect l="l" t="t" r="r" b="b"/>
            <a:pathLst>
              <a:path w="998963" h="992719">
                <a:moveTo>
                  <a:pt x="0" y="0"/>
                </a:moveTo>
                <a:lnTo>
                  <a:pt x="998963" y="0"/>
                </a:lnTo>
                <a:lnTo>
                  <a:pt x="998963" y="992720"/>
                </a:lnTo>
                <a:lnTo>
                  <a:pt x="0" y="99272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3130184" y="327647"/>
            <a:ext cx="11698350" cy="645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800" b="1">
                <a:solidFill>
                  <a:srgbClr val="263744"/>
                </a:solidFill>
                <a:latin typeface="Inter Bold"/>
                <a:ea typeface="Inter Bold"/>
                <a:cs typeface="Inter Bold"/>
                <a:sym typeface="Inter Bold"/>
              </a:rPr>
              <a:t>ПРЕИМУЩЕСТВА ДЛЯ ПАРТНЕРОВ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91983" y="3481725"/>
            <a:ext cx="3410303" cy="213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Компании получают доступ к ленте актуальных заказов. Не нужно тратить бюджет на рекламу и маркетинг — клиенты уже здесь и готовы платить.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11728" y="1285760"/>
            <a:ext cx="3170814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>
                <a:solidFill>
                  <a:srgbClr val="26374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Готовые заказы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002793" y="3482962"/>
            <a:ext cx="3410303" cy="248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Благодаря системе «закрытого тендера» конкуренты не видят цены друг друга. Это исключает искусственное занижение цен и позволяет работать за честную стоимость.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057116" y="1279639"/>
            <a:ext cx="3301657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Защита от демпинга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93390" y="3482962"/>
            <a:ext cx="3410303" cy="283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Удобное рабочее пространство для каждой стороны. В личном кабинете есть все необходимые инструменты: управление статусами, чаты с заказчиком и прочее.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723893" y="1224382"/>
            <a:ext cx="3380477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>
                <a:solidFill>
                  <a:srgbClr val="26374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Удобный личный кабинет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387439" y="3520351"/>
            <a:ext cx="3410303" cy="283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Возможность не только оказывать услуги, но и продавать свои стройматериалы через встроенный магазин, получая дополнительную прибыль.</a:t>
            </a:r>
          </a:p>
          <a:p>
            <a:pPr algn="ctr">
              <a:lnSpc>
                <a:spcPts val="2800"/>
              </a:lnSpc>
            </a:pPr>
            <a:endParaRPr lang="en-US" sz="2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4683822" y="1224382"/>
            <a:ext cx="2817537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Свои магазины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14519" y="7571648"/>
            <a:ext cx="16858961" cy="2437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🔧 Гибкая монетизация: Вы полностью управляете бизнес-моделью. Оплата за работу идет напрямую исполнителю, а система автоматически считает ваш процент и выставляет счета компаниям в конце периода (неделя/месяц). Вы сами задаете размер комиссии в админ-панели.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⚖️ Финансовый арбитраж: Вы остаетесь главным гарантом качества. В спорных ситуациях именно администрация платформы (вы) принимает решение — засчитать ли выполнение заказа или применить санкции к исполнителю, защищая интересы клиентов.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732470" y="6813289"/>
            <a:ext cx="8493778" cy="60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1"/>
              </a:lnSpc>
            </a:pPr>
            <a:r>
              <a:rPr lang="en-US" sz="3358" b="1">
                <a:solidFill>
                  <a:srgbClr val="ACCAE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Возможности владельца платформы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88798" y="-247883"/>
            <a:ext cx="8017865" cy="10782766"/>
            <a:chOff x="0" y="0"/>
            <a:chExt cx="2398142" cy="32251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98142" cy="3225124"/>
            </a:xfrm>
            <a:custGeom>
              <a:avLst/>
              <a:gdLst/>
              <a:ahLst/>
              <a:cxnLst/>
              <a:rect l="l" t="t" r="r" b="b"/>
              <a:pathLst>
                <a:path w="2398142" h="3225124">
                  <a:moveTo>
                    <a:pt x="38623" y="0"/>
                  </a:moveTo>
                  <a:lnTo>
                    <a:pt x="2359519" y="0"/>
                  </a:lnTo>
                  <a:cubicBezTo>
                    <a:pt x="2369763" y="0"/>
                    <a:pt x="2379587" y="4069"/>
                    <a:pt x="2386830" y="11313"/>
                  </a:cubicBezTo>
                  <a:cubicBezTo>
                    <a:pt x="2394073" y="18556"/>
                    <a:pt x="2398142" y="28380"/>
                    <a:pt x="2398142" y="38623"/>
                  </a:cubicBezTo>
                  <a:lnTo>
                    <a:pt x="2398142" y="3186500"/>
                  </a:lnTo>
                  <a:cubicBezTo>
                    <a:pt x="2398142" y="3196744"/>
                    <a:pt x="2394073" y="3206568"/>
                    <a:pt x="2386830" y="3213811"/>
                  </a:cubicBezTo>
                  <a:cubicBezTo>
                    <a:pt x="2379587" y="3221055"/>
                    <a:pt x="2369763" y="3225124"/>
                    <a:pt x="2359519" y="3225124"/>
                  </a:cubicBezTo>
                  <a:lnTo>
                    <a:pt x="38623" y="3225124"/>
                  </a:lnTo>
                  <a:cubicBezTo>
                    <a:pt x="28380" y="3225124"/>
                    <a:pt x="18556" y="3221055"/>
                    <a:pt x="11313" y="3213811"/>
                  </a:cubicBezTo>
                  <a:cubicBezTo>
                    <a:pt x="4069" y="3206568"/>
                    <a:pt x="0" y="3196744"/>
                    <a:pt x="0" y="3186500"/>
                  </a:cubicBezTo>
                  <a:lnTo>
                    <a:pt x="0" y="38623"/>
                  </a:lnTo>
                  <a:cubicBezTo>
                    <a:pt x="0" y="28380"/>
                    <a:pt x="4069" y="18556"/>
                    <a:pt x="11313" y="11313"/>
                  </a:cubicBezTo>
                  <a:cubicBezTo>
                    <a:pt x="18556" y="4069"/>
                    <a:pt x="28380" y="0"/>
                    <a:pt x="38623" y="0"/>
                  </a:cubicBezTo>
                  <a:close/>
                </a:path>
              </a:pathLst>
            </a:custGeom>
            <a:solidFill>
              <a:srgbClr val="26374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98142" cy="3263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97922" y="2113148"/>
            <a:ext cx="4038227" cy="6060703"/>
            <a:chOff x="0" y="0"/>
            <a:chExt cx="591140" cy="8872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1140" cy="887202"/>
            </a:xfrm>
            <a:custGeom>
              <a:avLst/>
              <a:gdLst/>
              <a:ahLst/>
              <a:cxnLst/>
              <a:rect l="l" t="t" r="r" b="b"/>
              <a:pathLst>
                <a:path w="591140" h="887202">
                  <a:moveTo>
                    <a:pt x="76686" y="0"/>
                  </a:moveTo>
                  <a:lnTo>
                    <a:pt x="514453" y="0"/>
                  </a:lnTo>
                  <a:cubicBezTo>
                    <a:pt x="534792" y="0"/>
                    <a:pt x="554297" y="8079"/>
                    <a:pt x="568679" y="22461"/>
                  </a:cubicBezTo>
                  <a:cubicBezTo>
                    <a:pt x="583060" y="36842"/>
                    <a:pt x="591140" y="56348"/>
                    <a:pt x="591140" y="76686"/>
                  </a:cubicBezTo>
                  <a:lnTo>
                    <a:pt x="591140" y="810515"/>
                  </a:lnTo>
                  <a:cubicBezTo>
                    <a:pt x="591140" y="830854"/>
                    <a:pt x="583060" y="850359"/>
                    <a:pt x="568679" y="864741"/>
                  </a:cubicBezTo>
                  <a:cubicBezTo>
                    <a:pt x="554297" y="879122"/>
                    <a:pt x="534792" y="887202"/>
                    <a:pt x="514453" y="887202"/>
                  </a:cubicBezTo>
                  <a:lnTo>
                    <a:pt x="76686" y="887202"/>
                  </a:lnTo>
                  <a:cubicBezTo>
                    <a:pt x="56348" y="887202"/>
                    <a:pt x="36842" y="879122"/>
                    <a:pt x="22461" y="864741"/>
                  </a:cubicBezTo>
                  <a:cubicBezTo>
                    <a:pt x="8079" y="850359"/>
                    <a:pt x="0" y="830854"/>
                    <a:pt x="0" y="810515"/>
                  </a:cubicBezTo>
                  <a:lnTo>
                    <a:pt x="0" y="76686"/>
                  </a:lnTo>
                  <a:cubicBezTo>
                    <a:pt x="0" y="56348"/>
                    <a:pt x="8079" y="36842"/>
                    <a:pt x="22461" y="22461"/>
                  </a:cubicBezTo>
                  <a:cubicBezTo>
                    <a:pt x="36842" y="8079"/>
                    <a:pt x="56348" y="0"/>
                    <a:pt x="76686" y="0"/>
                  </a:cubicBezTo>
                  <a:close/>
                </a:path>
              </a:pathLst>
            </a:custGeom>
            <a:blipFill>
              <a:blip r:embed="rId2"/>
              <a:stretch>
                <a:fillRect l="-37861" r="-107632" b="-8979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5082026" y="2170298"/>
            <a:ext cx="2888962" cy="3504084"/>
            <a:chOff x="0" y="0"/>
            <a:chExt cx="422903" cy="5129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2903" cy="512949"/>
            </a:xfrm>
            <a:custGeom>
              <a:avLst/>
              <a:gdLst/>
              <a:ahLst/>
              <a:cxnLst/>
              <a:rect l="l" t="t" r="r" b="b"/>
              <a:pathLst>
                <a:path w="422903" h="512949">
                  <a:moveTo>
                    <a:pt x="107193" y="0"/>
                  </a:moveTo>
                  <a:lnTo>
                    <a:pt x="315710" y="0"/>
                  </a:lnTo>
                  <a:cubicBezTo>
                    <a:pt x="374911" y="0"/>
                    <a:pt x="422903" y="47992"/>
                    <a:pt x="422903" y="107193"/>
                  </a:cubicBezTo>
                  <a:lnTo>
                    <a:pt x="422903" y="405756"/>
                  </a:lnTo>
                  <a:cubicBezTo>
                    <a:pt x="422903" y="464957"/>
                    <a:pt x="374911" y="512949"/>
                    <a:pt x="315710" y="512949"/>
                  </a:cubicBezTo>
                  <a:lnTo>
                    <a:pt x="107193" y="512949"/>
                  </a:lnTo>
                  <a:cubicBezTo>
                    <a:pt x="78764" y="512949"/>
                    <a:pt x="51499" y="501655"/>
                    <a:pt x="31396" y="481553"/>
                  </a:cubicBezTo>
                  <a:cubicBezTo>
                    <a:pt x="11294" y="461450"/>
                    <a:pt x="0" y="434185"/>
                    <a:pt x="0" y="405756"/>
                  </a:cubicBezTo>
                  <a:lnTo>
                    <a:pt x="0" y="107193"/>
                  </a:lnTo>
                  <a:cubicBezTo>
                    <a:pt x="0" y="47992"/>
                    <a:pt x="47992" y="0"/>
                    <a:pt x="107193" y="0"/>
                  </a:cubicBezTo>
                  <a:close/>
                </a:path>
              </a:pathLst>
            </a:custGeom>
            <a:blipFill>
              <a:blip r:embed="rId2"/>
              <a:stretch>
                <a:fillRect l="-117579" t="-9757" b="-9757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5068283" y="5781828"/>
            <a:ext cx="2981222" cy="2704598"/>
            <a:chOff x="0" y="0"/>
            <a:chExt cx="891683" cy="8089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91683" cy="808945"/>
            </a:xfrm>
            <a:custGeom>
              <a:avLst/>
              <a:gdLst/>
              <a:ahLst/>
              <a:cxnLst/>
              <a:rect l="l" t="t" r="r" b="b"/>
              <a:pathLst>
                <a:path w="891683" h="808945">
                  <a:moveTo>
                    <a:pt x="103876" y="0"/>
                  </a:moveTo>
                  <a:lnTo>
                    <a:pt x="787807" y="0"/>
                  </a:lnTo>
                  <a:cubicBezTo>
                    <a:pt x="815357" y="0"/>
                    <a:pt x="841778" y="10944"/>
                    <a:pt x="861259" y="30425"/>
                  </a:cubicBezTo>
                  <a:cubicBezTo>
                    <a:pt x="880739" y="49905"/>
                    <a:pt x="891683" y="76326"/>
                    <a:pt x="891683" y="103876"/>
                  </a:cubicBezTo>
                  <a:lnTo>
                    <a:pt x="891683" y="705069"/>
                  </a:lnTo>
                  <a:cubicBezTo>
                    <a:pt x="891683" y="732619"/>
                    <a:pt x="880739" y="759040"/>
                    <a:pt x="861259" y="778520"/>
                  </a:cubicBezTo>
                  <a:cubicBezTo>
                    <a:pt x="841778" y="798001"/>
                    <a:pt x="815357" y="808945"/>
                    <a:pt x="787807" y="808945"/>
                  </a:cubicBezTo>
                  <a:lnTo>
                    <a:pt x="103876" y="808945"/>
                  </a:lnTo>
                  <a:cubicBezTo>
                    <a:pt x="76326" y="808945"/>
                    <a:pt x="49905" y="798001"/>
                    <a:pt x="30425" y="778520"/>
                  </a:cubicBezTo>
                  <a:cubicBezTo>
                    <a:pt x="10944" y="759040"/>
                    <a:pt x="0" y="732619"/>
                    <a:pt x="0" y="705069"/>
                  </a:cubicBezTo>
                  <a:lnTo>
                    <a:pt x="0" y="103876"/>
                  </a:lnTo>
                  <a:cubicBezTo>
                    <a:pt x="0" y="76326"/>
                    <a:pt x="10944" y="49905"/>
                    <a:pt x="30425" y="30425"/>
                  </a:cubicBezTo>
                  <a:cubicBezTo>
                    <a:pt x="49905" y="10944"/>
                    <a:pt x="76326" y="0"/>
                    <a:pt x="103876" y="0"/>
                  </a:cubicBezTo>
                  <a:close/>
                </a:path>
              </a:pathLst>
            </a:custGeom>
            <a:solidFill>
              <a:srgbClr val="3C586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91683" cy="8470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8816278" y="2385572"/>
            <a:ext cx="479327" cy="479327"/>
          </a:xfrm>
          <a:custGeom>
            <a:avLst/>
            <a:gdLst/>
            <a:ahLst/>
            <a:cxnLst/>
            <a:rect l="l" t="t" r="r" b="b"/>
            <a:pathLst>
              <a:path w="479327" h="479327">
                <a:moveTo>
                  <a:pt x="0" y="0"/>
                </a:moveTo>
                <a:lnTo>
                  <a:pt x="479327" y="0"/>
                </a:lnTo>
                <a:lnTo>
                  <a:pt x="479327" y="479327"/>
                </a:lnTo>
                <a:lnTo>
                  <a:pt x="0" y="479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745634" y="401953"/>
            <a:ext cx="10173325" cy="751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b="1">
                <a:solidFill>
                  <a:srgbClr val="263744"/>
                </a:solidFill>
                <a:latin typeface="Inter Bold"/>
                <a:ea typeface="Inter Bold"/>
                <a:cs typeface="Inter Bold"/>
                <a:sym typeface="Inter Bold"/>
              </a:rPr>
              <a:t>ЭТАПЫ ЗАПУСКА ПРОЕКТА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46502" y="2318897"/>
            <a:ext cx="6703292" cy="14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Разработка подробного технического задания (ТЗ) и архитектуры базы данных. Создание интерактивных прототипов и финального UI/UX дизайна всех экранов системы.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16278" y="1733476"/>
            <a:ext cx="5572596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3C586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Проектирование и дизайн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46799" y="5859364"/>
            <a:ext cx="2824189" cy="248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E9EBED"/>
                </a:solidFill>
                <a:latin typeface="Poppins"/>
                <a:ea typeface="Poppins"/>
                <a:cs typeface="Poppins"/>
                <a:sym typeface="Poppins"/>
              </a:rPr>
              <a:t>Вы получаете полностью настроенную платформу, готовую к запуску, монетизации и приему первых пользователей.</a:t>
            </a:r>
          </a:p>
        </p:txBody>
      </p:sp>
      <p:sp>
        <p:nvSpPr>
          <p:cNvPr id="17" name="Freeform 17"/>
          <p:cNvSpPr/>
          <p:nvPr/>
        </p:nvSpPr>
        <p:spPr>
          <a:xfrm>
            <a:off x="8816278" y="4867177"/>
            <a:ext cx="479327" cy="479327"/>
          </a:xfrm>
          <a:custGeom>
            <a:avLst/>
            <a:gdLst/>
            <a:ahLst/>
            <a:cxnLst/>
            <a:rect l="l" t="t" r="r" b="b"/>
            <a:pathLst>
              <a:path w="479327" h="479327">
                <a:moveTo>
                  <a:pt x="0" y="0"/>
                </a:moveTo>
                <a:lnTo>
                  <a:pt x="479327" y="0"/>
                </a:lnTo>
                <a:lnTo>
                  <a:pt x="479327" y="479327"/>
                </a:lnTo>
                <a:lnTo>
                  <a:pt x="0" y="479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9546502" y="4800502"/>
            <a:ext cx="6703292" cy="14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Написание программного кода, настройка серверной части и баз данных. Реализация личных кабинетов, системы тендеров и админ-панели для управления платформой.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816278" y="4215081"/>
            <a:ext cx="5572596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3C586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Техническая разработка (MVP)</a:t>
            </a:r>
          </a:p>
        </p:txBody>
      </p:sp>
      <p:sp>
        <p:nvSpPr>
          <p:cNvPr id="20" name="Freeform 20"/>
          <p:cNvSpPr/>
          <p:nvPr/>
        </p:nvSpPr>
        <p:spPr>
          <a:xfrm>
            <a:off x="8816278" y="7344898"/>
            <a:ext cx="479327" cy="479327"/>
          </a:xfrm>
          <a:custGeom>
            <a:avLst/>
            <a:gdLst/>
            <a:ahLst/>
            <a:cxnLst/>
            <a:rect l="l" t="t" r="r" b="b"/>
            <a:pathLst>
              <a:path w="479327" h="479327">
                <a:moveTo>
                  <a:pt x="0" y="0"/>
                </a:moveTo>
                <a:lnTo>
                  <a:pt x="479327" y="0"/>
                </a:lnTo>
                <a:lnTo>
                  <a:pt x="479327" y="479327"/>
                </a:lnTo>
                <a:lnTo>
                  <a:pt x="0" y="479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9546502" y="7278223"/>
            <a:ext cx="6703292" cy="14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Комплексное тестирование безопасности и нагрузочных способностей. Финальная отладка, развертывание проекта на сервере и передача ключей управления владельцу.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16278" y="6692802"/>
            <a:ext cx="5572596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3C586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Тестирование и релиз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F3223EB-D010-1414-10D4-55EC4F9E2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" y="-266700"/>
            <a:ext cx="18364200" cy="11049000"/>
          </a:xfrm>
          <a:prstGeom prst="rect">
            <a:avLst/>
          </a:prstGeom>
        </p:spPr>
      </p:pic>
      <p:grpSp>
        <p:nvGrpSpPr>
          <p:cNvPr id="17" name="Group 6"/>
          <p:cNvGrpSpPr/>
          <p:nvPr/>
        </p:nvGrpSpPr>
        <p:grpSpPr>
          <a:xfrm>
            <a:off x="12519881" y="3007153"/>
            <a:ext cx="4691794" cy="4691794"/>
            <a:chOff x="0" y="0"/>
            <a:chExt cx="812800" cy="812800"/>
          </a:xfrm>
        </p:grpSpPr>
        <p:sp>
          <p:nvSpPr>
            <p:cNvPr id="18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89A8"/>
            </a:solidFill>
          </p:spPr>
        </p:sp>
        <p:sp>
          <p:nvSpPr>
            <p:cNvPr id="19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9"/>
          <p:cNvGrpSpPr/>
          <p:nvPr/>
        </p:nvGrpSpPr>
        <p:grpSpPr>
          <a:xfrm>
            <a:off x="10888395" y="3045253"/>
            <a:ext cx="2674155" cy="2674155"/>
            <a:chOff x="0" y="0"/>
            <a:chExt cx="812800" cy="812800"/>
          </a:xfrm>
        </p:grpSpPr>
        <p:sp>
          <p:nvSpPr>
            <p:cNvPr id="21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CAE4"/>
            </a:solidFill>
          </p:spPr>
        </p:sp>
        <p:sp>
          <p:nvSpPr>
            <p:cNvPr id="22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12"/>
          <p:cNvGrpSpPr/>
          <p:nvPr/>
        </p:nvGrpSpPr>
        <p:grpSpPr>
          <a:xfrm>
            <a:off x="12609208" y="6182504"/>
            <a:ext cx="1478343" cy="1478343"/>
            <a:chOff x="0" y="0"/>
            <a:chExt cx="812800" cy="812800"/>
          </a:xfrm>
        </p:grpSpPr>
        <p:sp>
          <p:nvSpPr>
            <p:cNvPr id="24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CAE4">
                <a:alpha val="49804"/>
              </a:srgbClr>
            </a:solidFill>
          </p:spPr>
        </p:sp>
        <p:sp>
          <p:nvSpPr>
            <p:cNvPr id="25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342611" y="3636643"/>
            <a:ext cx="7266598" cy="2842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339"/>
              </a:lnSpc>
            </a:pPr>
            <a:r>
              <a:rPr lang="en-US" sz="80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СПАСИБО ЗА ВНИМАНИЕ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>
          <a:blip xmlns:r="http://schemas.openxmlformats.org/officeDocument/2006/relationships" r:embed="rId1"/>
          <a:stretch>
            <a:fillRect t="-16666" b="-16666"/>
          </a:stretch>
        </a:blipFill>
      </a:spPr>
      <a:bodyPr/>
      <a:lstStyle/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634</Words>
  <Application>Microsoft Office PowerPoint</Application>
  <PresentationFormat>Custom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Poppins Semi-Bold</vt:lpstr>
      <vt:lpstr>Poppins Bold</vt:lpstr>
      <vt:lpstr>Inter Bold</vt:lpstr>
      <vt:lpstr>Poppins</vt:lpstr>
      <vt:lpstr>Montserrat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MyBuild</dc:title>
  <cp:lastModifiedBy>Sam</cp:lastModifiedBy>
  <cp:revision>3</cp:revision>
  <dcterms:created xsi:type="dcterms:W3CDTF">2006-08-16T00:00:00Z</dcterms:created>
  <dcterms:modified xsi:type="dcterms:W3CDTF">2026-01-27T10:19:10Z</dcterms:modified>
  <dc:identifier>DAG_inn0_1U</dc:identifier>
</cp:coreProperties>
</file>